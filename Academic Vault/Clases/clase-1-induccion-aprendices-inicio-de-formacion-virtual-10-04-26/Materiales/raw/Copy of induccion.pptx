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aqX0HvAcXAdkP6b4VVooT1TXV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7165198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971651985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9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11500"/>
              <a:buFont typeface="Trebuchet MS"/>
              <a:buNone/>
              <a:defRPr b="0" i="0" sz="115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471804" y="1314703"/>
            <a:ext cx="11248390" cy="1781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5568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11500"/>
              <a:buFont typeface="Trebuchet MS"/>
              <a:buNone/>
            </a:pPr>
            <a:r>
              <a:rPr lang="es-MX" u="sng"/>
              <a:t> 	SENA	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10682376" y="5394223"/>
            <a:ext cx="791210" cy="678180"/>
          </a:xfrm>
          <a:custGeom>
            <a:rect b="b" l="l" r="r" t="t"/>
            <a:pathLst>
              <a:path extrusionOk="0" h="678179" w="791209">
                <a:moveTo>
                  <a:pt x="677684" y="398132"/>
                </a:moveTo>
                <a:lnTo>
                  <a:pt x="621207" y="344487"/>
                </a:lnTo>
                <a:lnTo>
                  <a:pt x="621207" y="442366"/>
                </a:lnTo>
                <a:lnTo>
                  <a:pt x="621207" y="555320"/>
                </a:lnTo>
                <a:lnTo>
                  <a:pt x="508254" y="555320"/>
                </a:lnTo>
                <a:lnTo>
                  <a:pt x="508254" y="442366"/>
                </a:lnTo>
                <a:lnTo>
                  <a:pt x="621207" y="442366"/>
                </a:lnTo>
                <a:lnTo>
                  <a:pt x="621207" y="344487"/>
                </a:lnTo>
                <a:lnTo>
                  <a:pt x="395312" y="129870"/>
                </a:lnTo>
                <a:lnTo>
                  <a:pt x="282359" y="237185"/>
                </a:lnTo>
                <a:lnTo>
                  <a:pt x="282359" y="442366"/>
                </a:lnTo>
                <a:lnTo>
                  <a:pt x="282359" y="555320"/>
                </a:lnTo>
                <a:lnTo>
                  <a:pt x="169418" y="555320"/>
                </a:lnTo>
                <a:lnTo>
                  <a:pt x="169418" y="442366"/>
                </a:lnTo>
                <a:lnTo>
                  <a:pt x="282359" y="442366"/>
                </a:lnTo>
                <a:lnTo>
                  <a:pt x="282359" y="237185"/>
                </a:lnTo>
                <a:lnTo>
                  <a:pt x="112941" y="398132"/>
                </a:lnTo>
                <a:lnTo>
                  <a:pt x="112941" y="677684"/>
                </a:lnTo>
                <a:lnTo>
                  <a:pt x="338836" y="677684"/>
                </a:lnTo>
                <a:lnTo>
                  <a:pt x="338836" y="555320"/>
                </a:lnTo>
                <a:lnTo>
                  <a:pt x="338836" y="442366"/>
                </a:lnTo>
                <a:lnTo>
                  <a:pt x="451789" y="442366"/>
                </a:lnTo>
                <a:lnTo>
                  <a:pt x="451789" y="677684"/>
                </a:lnTo>
                <a:lnTo>
                  <a:pt x="677684" y="677684"/>
                </a:lnTo>
                <a:lnTo>
                  <a:pt x="677684" y="555320"/>
                </a:lnTo>
                <a:lnTo>
                  <a:pt x="677684" y="442366"/>
                </a:lnTo>
                <a:lnTo>
                  <a:pt x="677684" y="398132"/>
                </a:lnTo>
                <a:close/>
              </a:path>
              <a:path extrusionOk="0" h="678179" w="791209">
                <a:moveTo>
                  <a:pt x="790625" y="376478"/>
                </a:moveTo>
                <a:lnTo>
                  <a:pt x="621207" y="214579"/>
                </a:lnTo>
                <a:lnTo>
                  <a:pt x="621207" y="143040"/>
                </a:lnTo>
                <a:lnTo>
                  <a:pt x="621207" y="56451"/>
                </a:lnTo>
                <a:lnTo>
                  <a:pt x="545909" y="56451"/>
                </a:lnTo>
                <a:lnTo>
                  <a:pt x="545909" y="143040"/>
                </a:lnTo>
                <a:lnTo>
                  <a:pt x="476542" y="77152"/>
                </a:lnTo>
                <a:lnTo>
                  <a:pt x="395312" y="0"/>
                </a:lnTo>
                <a:lnTo>
                  <a:pt x="0" y="376478"/>
                </a:lnTo>
                <a:lnTo>
                  <a:pt x="42341" y="412242"/>
                </a:lnTo>
                <a:lnTo>
                  <a:pt x="395312" y="77152"/>
                </a:lnTo>
                <a:lnTo>
                  <a:pt x="748271" y="412242"/>
                </a:lnTo>
                <a:lnTo>
                  <a:pt x="790625" y="376478"/>
                </a:ln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719470" y="3147454"/>
            <a:ext cx="802437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Bienvenidos a la Inducción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Instructora Paola Ocampo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Instructor Fernando López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Centro de Automatización Industrial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Regional Caldas</a:t>
            </a:r>
            <a:endParaRPr sz="2800">
              <a:solidFill>
                <a:srgbClr val="38AA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rvicio Nacional de Aprendizaje | SENA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528" y="130187"/>
            <a:ext cx="19431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/>
          <p:nvPr/>
        </p:nvSpPr>
        <p:spPr>
          <a:xfrm>
            <a:off x="1748829" y="2734366"/>
            <a:ext cx="8949434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Bienvenidos a la Inducción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38AA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Aprendices: Con alegría y entusiasmo les damos la bienvenida a la entidad más querida por los colombianos. ¡Éxitos en esta etapa que comienza!</a:t>
            </a:r>
            <a:endParaRPr sz="2800">
              <a:solidFill>
                <a:srgbClr val="38AA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rvicio Nacional de Aprendizaje | SENA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528" y="130187"/>
            <a:ext cx="19431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3047542" y="690644"/>
            <a:ext cx="894943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Bienvenidos a la Inducción</a:t>
            </a:r>
            <a:endParaRPr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499" y="2279374"/>
            <a:ext cx="10287001" cy="457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rvicio Nacional de Aprendizaje | SENA"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528" y="130187"/>
            <a:ext cx="19431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3420107" y="706783"/>
            <a:ext cx="53517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Bienvenidos a la Inducción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51797" y="2274838"/>
            <a:ext cx="1064628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Reciban un cordial saludo.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Pertenecemos a la </a:t>
            </a:r>
            <a:r>
              <a:rPr b="1" lang="es-MX" sz="180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Regional Caldas - Centro de Automatización Industrial</a:t>
            </a:r>
            <a:r>
              <a:rPr lang="es-MX" sz="180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. En esta modalidad virtual, el aula estará disponible </a:t>
            </a:r>
            <a:r>
              <a:rPr b="1" lang="es-MX" sz="180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las 24 horas del día, los 7 días de la semana</a:t>
            </a:r>
            <a:r>
              <a:rPr lang="es-MX" sz="180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, para que puedan ingresar de manera autónoma en los horarios que les resulten más cómodos.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Encuentros Sincrónicos</a:t>
            </a:r>
            <a:endParaRPr sz="180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Los encuentros sincrónicos serán programados en diferentes horarios del día, según la disponibilidad de los instructores. Les invito ha estar atentos a los </a:t>
            </a:r>
            <a:r>
              <a:rPr b="1" lang="es-MX" sz="180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r>
              <a:rPr lang="es-MX" sz="180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, ya que a través de este medio se comunicarán todas las indicaciones e información relevante del curso.</a:t>
            </a:r>
            <a:endParaRPr b="0" i="0" sz="180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rvicio Nacional de Aprendizaje | SENA" id="117" name="Google Shape;117;g3971651985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528" y="130187"/>
            <a:ext cx="19431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9716519857_0_0"/>
          <p:cNvSpPr/>
          <p:nvPr/>
        </p:nvSpPr>
        <p:spPr>
          <a:xfrm>
            <a:off x="3420107" y="706783"/>
            <a:ext cx="53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Bienvenidos a la Inducción</a:t>
            </a:r>
            <a:endParaRPr/>
          </a:p>
        </p:txBody>
      </p:sp>
      <p:sp>
        <p:nvSpPr>
          <p:cNvPr id="119" name="Google Shape;119;g39716519857_0_0"/>
          <p:cNvSpPr/>
          <p:nvPr/>
        </p:nvSpPr>
        <p:spPr>
          <a:xfrm>
            <a:off x="551797" y="2274838"/>
            <a:ext cx="106464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</a:rPr>
              <a:t>El éxito en la formación virtual reside en tu </a:t>
            </a:r>
            <a:r>
              <a:rPr b="1" lang="es-MX" sz="1800">
                <a:solidFill>
                  <a:schemeClr val="dk1"/>
                </a:solidFill>
              </a:rPr>
              <a:t>autonomía</a:t>
            </a:r>
            <a:r>
              <a:rPr lang="es-MX" sz="1800">
                <a:solidFill>
                  <a:schemeClr val="dk1"/>
                </a:solidFill>
              </a:rPr>
              <a:t> y en la capacidad de marcar tu propio </a:t>
            </a:r>
            <a:r>
              <a:rPr b="1" lang="es-MX" sz="1800">
                <a:solidFill>
                  <a:schemeClr val="dk1"/>
                </a:solidFill>
              </a:rPr>
              <a:t>ritmo de aprendizaje</a:t>
            </a:r>
            <a:r>
              <a:rPr lang="es-MX" sz="1800">
                <a:solidFill>
                  <a:schemeClr val="dk1"/>
                </a:solidFill>
              </a:rPr>
              <a:t>. Aunque los medios y contenidos están plenamente dispuestos, la </a:t>
            </a:r>
            <a:r>
              <a:rPr b="1" lang="es-MX" sz="1800">
                <a:solidFill>
                  <a:schemeClr val="dk1"/>
                </a:solidFill>
              </a:rPr>
              <a:t>intención de aprender</a:t>
            </a:r>
            <a:r>
              <a:rPr lang="es-MX" sz="1800">
                <a:solidFill>
                  <a:schemeClr val="dk1"/>
                </a:solidFill>
              </a:rPr>
              <a:t> es un acto individual que se materializa a través de la </a:t>
            </a:r>
            <a:r>
              <a:rPr b="1" lang="es-MX" sz="1800">
                <a:solidFill>
                  <a:schemeClr val="dk1"/>
                </a:solidFill>
              </a:rPr>
              <a:t>autogestión</a:t>
            </a:r>
            <a:r>
              <a:rPr lang="es-MX" sz="18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</a:rPr>
              <a:t>Como instructores, actuamos como facilitadores del proceso, pero es tu disciplina la que garantiza la apropiación del conocimiento. Esta dinámica de </a:t>
            </a:r>
            <a:r>
              <a:rPr b="1" lang="es-MX" sz="1800">
                <a:solidFill>
                  <a:schemeClr val="dk1"/>
                </a:solidFill>
              </a:rPr>
              <a:t>autoaprendizaje</a:t>
            </a:r>
            <a:r>
              <a:rPr lang="es-MX" sz="1800">
                <a:solidFill>
                  <a:schemeClr val="dk1"/>
                </a:solidFill>
              </a:rPr>
              <a:t> requiere un compromiso constante con la organización de tus tiempos y objetivos. Al asumir este rol protagónico, transformas la información disponible en un desarrollo de competencias sólido y coherente con las exigencias del entorno digital actual.</a:t>
            </a:r>
            <a:endParaRPr b="0" i="0" sz="250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rvicio Nacional de Aprendizaje | SENA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528" y="130187"/>
            <a:ext cx="19431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3420107" y="706783"/>
            <a:ext cx="53517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Bienvenidos a la Inducción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72855" y="1958987"/>
            <a:ext cx="10646289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Actividades Iniciales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    Actualizar datos en Sofía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    Ingresar a la Plataforma Zajuna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Zajuna Realizar las Actividades de Inducción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    Ingresar en el menú a Inducción en la plataforma.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    Revisar la guía de aprendizaje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    Explorar y apropiarse del material de formación: Ingresar a Plataforma Zajuna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o    Componente formativo: Contextualización SENA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o    Formación virtual en el SENA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  o    Formación titulada virtual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Ingresar Inducción Bienestar al aprendiz y diferentes actores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rvicio Nacional de Aprendizaje | SENA"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528" y="130187"/>
            <a:ext cx="19431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3420107" y="706783"/>
            <a:ext cx="53517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Bienvenidos a la Inducción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551797" y="2274838"/>
            <a:ext cx="10646289" cy="495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Evidencias a desarrollar: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Exploración de plataforma </a:t>
            </a: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al 13 de Abril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Infografía</a:t>
            </a: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(AA1-EV01)  Entrega 14 de Abril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Foro temático</a:t>
            </a: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(AA2-EV01) entrega 15 de Abril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Crucigrama</a:t>
            </a: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(AA3-EV01) Entrega 16 de Abril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Cuadro sinóptico</a:t>
            </a: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(AA4-EV01) Entrega 17 de Abril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Taller</a:t>
            </a: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(AA4-EV02) Entrega 18 a 20 de Abril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Aprovechen esta oportunidad de formación, participen activamente y no duden en comunicarse por mensajería ante cualquier inquietud.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¡Bienvenidos y mucho éxito en su proceso de aprendizaje!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471804" y="1314703"/>
            <a:ext cx="11248390" cy="1781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5568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11500"/>
              <a:buFont typeface="Trebuchet MS"/>
              <a:buNone/>
            </a:pPr>
            <a:r>
              <a:rPr lang="es-MX" u="sng"/>
              <a:t> 	SENA	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0682376" y="5394223"/>
            <a:ext cx="791210" cy="678180"/>
          </a:xfrm>
          <a:custGeom>
            <a:rect b="b" l="l" r="r" t="t"/>
            <a:pathLst>
              <a:path extrusionOk="0" h="678179" w="791209">
                <a:moveTo>
                  <a:pt x="677684" y="398132"/>
                </a:moveTo>
                <a:lnTo>
                  <a:pt x="621207" y="344487"/>
                </a:lnTo>
                <a:lnTo>
                  <a:pt x="621207" y="442366"/>
                </a:lnTo>
                <a:lnTo>
                  <a:pt x="621207" y="555320"/>
                </a:lnTo>
                <a:lnTo>
                  <a:pt x="508254" y="555320"/>
                </a:lnTo>
                <a:lnTo>
                  <a:pt x="508254" y="442366"/>
                </a:lnTo>
                <a:lnTo>
                  <a:pt x="621207" y="442366"/>
                </a:lnTo>
                <a:lnTo>
                  <a:pt x="621207" y="344487"/>
                </a:lnTo>
                <a:lnTo>
                  <a:pt x="395312" y="129870"/>
                </a:lnTo>
                <a:lnTo>
                  <a:pt x="282359" y="237185"/>
                </a:lnTo>
                <a:lnTo>
                  <a:pt x="282359" y="442366"/>
                </a:lnTo>
                <a:lnTo>
                  <a:pt x="282359" y="555320"/>
                </a:lnTo>
                <a:lnTo>
                  <a:pt x="169418" y="555320"/>
                </a:lnTo>
                <a:lnTo>
                  <a:pt x="169418" y="442366"/>
                </a:lnTo>
                <a:lnTo>
                  <a:pt x="282359" y="442366"/>
                </a:lnTo>
                <a:lnTo>
                  <a:pt x="282359" y="237185"/>
                </a:lnTo>
                <a:lnTo>
                  <a:pt x="112941" y="398132"/>
                </a:lnTo>
                <a:lnTo>
                  <a:pt x="112941" y="677684"/>
                </a:lnTo>
                <a:lnTo>
                  <a:pt x="338836" y="677684"/>
                </a:lnTo>
                <a:lnTo>
                  <a:pt x="338836" y="555320"/>
                </a:lnTo>
                <a:lnTo>
                  <a:pt x="338836" y="442366"/>
                </a:lnTo>
                <a:lnTo>
                  <a:pt x="451789" y="442366"/>
                </a:lnTo>
                <a:lnTo>
                  <a:pt x="451789" y="677684"/>
                </a:lnTo>
                <a:lnTo>
                  <a:pt x="677684" y="677684"/>
                </a:lnTo>
                <a:lnTo>
                  <a:pt x="677684" y="555320"/>
                </a:lnTo>
                <a:lnTo>
                  <a:pt x="677684" y="442366"/>
                </a:lnTo>
                <a:lnTo>
                  <a:pt x="677684" y="398132"/>
                </a:lnTo>
                <a:close/>
              </a:path>
              <a:path extrusionOk="0" h="678179" w="791209">
                <a:moveTo>
                  <a:pt x="790625" y="376478"/>
                </a:moveTo>
                <a:lnTo>
                  <a:pt x="621207" y="214579"/>
                </a:lnTo>
                <a:lnTo>
                  <a:pt x="621207" y="143040"/>
                </a:lnTo>
                <a:lnTo>
                  <a:pt x="621207" y="56451"/>
                </a:lnTo>
                <a:lnTo>
                  <a:pt x="545909" y="56451"/>
                </a:lnTo>
                <a:lnTo>
                  <a:pt x="545909" y="143040"/>
                </a:lnTo>
                <a:lnTo>
                  <a:pt x="476542" y="77152"/>
                </a:lnTo>
                <a:lnTo>
                  <a:pt x="395312" y="0"/>
                </a:lnTo>
                <a:lnTo>
                  <a:pt x="0" y="376478"/>
                </a:lnTo>
                <a:lnTo>
                  <a:pt x="42341" y="412242"/>
                </a:lnTo>
                <a:lnTo>
                  <a:pt x="395312" y="77152"/>
                </a:lnTo>
                <a:lnTo>
                  <a:pt x="748271" y="412242"/>
                </a:lnTo>
                <a:lnTo>
                  <a:pt x="790625" y="376478"/>
                </a:ln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4913244" y="3722192"/>
            <a:ext cx="25474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Plataforma</a:t>
            </a:r>
            <a:endParaRPr sz="2800">
              <a:solidFill>
                <a:srgbClr val="38AA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471804" y="1314703"/>
            <a:ext cx="11248390" cy="1781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5568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11500"/>
              <a:buFont typeface="Trebuchet MS"/>
              <a:buNone/>
            </a:pPr>
            <a:r>
              <a:rPr lang="es-MX" u="sng"/>
              <a:t> 	SENA	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10682376" y="5394223"/>
            <a:ext cx="791210" cy="678180"/>
          </a:xfrm>
          <a:custGeom>
            <a:rect b="b" l="l" r="r" t="t"/>
            <a:pathLst>
              <a:path extrusionOk="0" h="678179" w="791209">
                <a:moveTo>
                  <a:pt x="677684" y="398132"/>
                </a:moveTo>
                <a:lnTo>
                  <a:pt x="621207" y="344487"/>
                </a:lnTo>
                <a:lnTo>
                  <a:pt x="621207" y="442366"/>
                </a:lnTo>
                <a:lnTo>
                  <a:pt x="621207" y="555320"/>
                </a:lnTo>
                <a:lnTo>
                  <a:pt x="508254" y="555320"/>
                </a:lnTo>
                <a:lnTo>
                  <a:pt x="508254" y="442366"/>
                </a:lnTo>
                <a:lnTo>
                  <a:pt x="621207" y="442366"/>
                </a:lnTo>
                <a:lnTo>
                  <a:pt x="621207" y="344487"/>
                </a:lnTo>
                <a:lnTo>
                  <a:pt x="395312" y="129870"/>
                </a:lnTo>
                <a:lnTo>
                  <a:pt x="282359" y="237185"/>
                </a:lnTo>
                <a:lnTo>
                  <a:pt x="282359" y="442366"/>
                </a:lnTo>
                <a:lnTo>
                  <a:pt x="282359" y="555320"/>
                </a:lnTo>
                <a:lnTo>
                  <a:pt x="169418" y="555320"/>
                </a:lnTo>
                <a:lnTo>
                  <a:pt x="169418" y="442366"/>
                </a:lnTo>
                <a:lnTo>
                  <a:pt x="282359" y="442366"/>
                </a:lnTo>
                <a:lnTo>
                  <a:pt x="282359" y="237185"/>
                </a:lnTo>
                <a:lnTo>
                  <a:pt x="112941" y="398132"/>
                </a:lnTo>
                <a:lnTo>
                  <a:pt x="112941" y="677684"/>
                </a:lnTo>
                <a:lnTo>
                  <a:pt x="338836" y="677684"/>
                </a:lnTo>
                <a:lnTo>
                  <a:pt x="338836" y="555320"/>
                </a:lnTo>
                <a:lnTo>
                  <a:pt x="338836" y="442366"/>
                </a:lnTo>
                <a:lnTo>
                  <a:pt x="451789" y="442366"/>
                </a:lnTo>
                <a:lnTo>
                  <a:pt x="451789" y="677684"/>
                </a:lnTo>
                <a:lnTo>
                  <a:pt x="677684" y="677684"/>
                </a:lnTo>
                <a:lnTo>
                  <a:pt x="677684" y="555320"/>
                </a:lnTo>
                <a:lnTo>
                  <a:pt x="677684" y="442366"/>
                </a:lnTo>
                <a:lnTo>
                  <a:pt x="677684" y="398132"/>
                </a:lnTo>
                <a:close/>
              </a:path>
              <a:path extrusionOk="0" h="678179" w="791209">
                <a:moveTo>
                  <a:pt x="790625" y="376478"/>
                </a:moveTo>
                <a:lnTo>
                  <a:pt x="621207" y="214579"/>
                </a:lnTo>
                <a:lnTo>
                  <a:pt x="621207" y="143040"/>
                </a:lnTo>
                <a:lnTo>
                  <a:pt x="621207" y="56451"/>
                </a:lnTo>
                <a:lnTo>
                  <a:pt x="545909" y="56451"/>
                </a:lnTo>
                <a:lnTo>
                  <a:pt x="545909" y="143040"/>
                </a:lnTo>
                <a:lnTo>
                  <a:pt x="476542" y="77152"/>
                </a:lnTo>
                <a:lnTo>
                  <a:pt x="395312" y="0"/>
                </a:lnTo>
                <a:lnTo>
                  <a:pt x="0" y="376478"/>
                </a:lnTo>
                <a:lnTo>
                  <a:pt x="42341" y="412242"/>
                </a:lnTo>
                <a:lnTo>
                  <a:pt x="395312" y="77152"/>
                </a:lnTo>
                <a:lnTo>
                  <a:pt x="748271" y="412242"/>
                </a:lnTo>
                <a:lnTo>
                  <a:pt x="790625" y="376478"/>
                </a:ln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4913244" y="3722192"/>
            <a:ext cx="17793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rgbClr val="38AA00"/>
                </a:solidFill>
                <a:latin typeface="Trebuchet MS"/>
                <a:ea typeface="Trebuchet MS"/>
                <a:cs typeface="Trebuchet MS"/>
                <a:sym typeface="Trebuchet MS"/>
              </a:rPr>
              <a:t>Gracias</a:t>
            </a:r>
            <a:endParaRPr sz="2800">
              <a:solidFill>
                <a:srgbClr val="38AA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2021-03-17T00:00:32Z</dcterms:created>
  <dc:creator>Paola Ocampo</dc:creator>
</cp:coreProperties>
</file>